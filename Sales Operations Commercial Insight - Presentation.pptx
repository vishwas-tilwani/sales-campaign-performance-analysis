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6" r:id="rId4"/>
  </p:sldMasterIdLst>
  <p:notesMasterIdLst>
    <p:notesMasterId r:id="rId15"/>
  </p:notesMasterIdLst>
  <p:handoutMasterIdLst>
    <p:handoutMasterId r:id="rId16"/>
  </p:handoutMasterIdLst>
  <p:sldIdLst>
    <p:sldId id="334" r:id="rId5"/>
    <p:sldId id="316" r:id="rId6"/>
    <p:sldId id="351" r:id="rId7"/>
    <p:sldId id="352" r:id="rId8"/>
    <p:sldId id="353" r:id="rId9"/>
    <p:sldId id="354" r:id="rId10"/>
    <p:sldId id="355" r:id="rId11"/>
    <p:sldId id="356" r:id="rId12"/>
    <p:sldId id="361" r:id="rId13"/>
    <p:sldId id="35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10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40" autoAdjust="0"/>
    <p:restoredTop sz="89905" autoAdjust="0"/>
  </p:normalViewPr>
  <p:slideViewPr>
    <p:cSldViewPr snapToGrid="0">
      <p:cViewPr varScale="1">
        <p:scale>
          <a:sx n="180" d="100"/>
          <a:sy n="180" d="100"/>
        </p:scale>
        <p:origin x="1752" y="176"/>
      </p:cViewPr>
      <p:guideLst>
        <p:guide orient="horz" pos="1392"/>
        <p:guide pos="7056"/>
        <p:guide orient="horz" pos="3168"/>
      </p:guideLst>
    </p:cSldViewPr>
  </p:slideViewPr>
  <p:outlineViewPr>
    <p:cViewPr>
      <p:scale>
        <a:sx n="33" d="100"/>
        <a:sy n="33" d="100"/>
      </p:scale>
      <p:origin x="0" y="-11030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0E99E25-5B65-D93A-3010-8B947D67E6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EB28A-33CC-6CF5-1214-F2C3205F67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888634-FBA9-41D6-8B35-EE3A7D816B7C}" type="datetimeFigureOut">
              <a:rPr lang="en-US" smtClean="0"/>
              <a:t>11/18/25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D63414-6160-FF79-B3F6-CD615625C8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83E93F-BDEC-C5F7-2553-8324882C41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7C78D2-97D1-4B37-BDD1-08A09BD4CA9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1359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A28068-AFBD-4979-B752-9EB6F90B1386}" type="datetimeFigureOut">
              <a:rPr lang="en-US" smtClean="0"/>
              <a:t>11/18/25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939589-3E79-4C82-AA4A-FE78234FAA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7961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7734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64150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23318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887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73635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27800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79119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E1472-5A37-0CF2-3B9D-CA66039F3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C972B6-FD47-A006-2471-148114DB7D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EE39B3-1858-08BF-2666-25F6A9C857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C364BD-90A2-34F1-7428-ED2A4A3984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3887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BB867-14ED-BA74-6D71-9065E065B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E3CD0F-4BBD-FDC3-EF5B-B2A29258A3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5DE8A9-B922-A5A7-7087-508FA6FB11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0976E6-1DC2-AAEF-3F64-142F31A4B1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6213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 lIns="0" tIns="0" rIns="0" bIns="0" anchor="b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61510" y="2744546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37906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6544" y="614202"/>
            <a:ext cx="5918072" cy="2276856"/>
          </a:xfrm>
        </p:spPr>
        <p:txBody>
          <a:bodyPr lIns="0" tIns="0" rIns="0" bIns="0" anchor="b"/>
          <a:lstStyle>
            <a:lvl1pPr algn="r">
              <a:lnSpc>
                <a:spcPts val="4000"/>
              </a:lnSpc>
              <a:defRPr sz="40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C738AB3-8054-6E21-C34C-36AF3A31AC4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280160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tIns="914400" anchor="t">
            <a:noAutofit/>
          </a:bodyPr>
          <a:lstStyle>
            <a:lvl1pPr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FD1B85-4BEF-C1C1-5619-B82E9E44A9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16548" y="3161752"/>
            <a:ext cx="5918068" cy="3144965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2pPr>
            <a:lvl3pPr marL="9144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3pPr>
            <a:lvl4pPr marL="13716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4pPr>
            <a:lvl5pPr marL="1828800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AE7F8D-AE68-4A83-BAB5-3A97D473C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Graphic 12">
            <a:extLst>
              <a:ext uri="{FF2B5EF4-FFF2-40B4-BE49-F238E27FC236}">
                <a16:creationId xmlns:a16="http://schemas.microsoft.com/office/drawing/2014/main" id="{EA1B6985-3E5A-40F4-9268-D4AB3BBF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Graphic 13">
            <a:extLst>
              <a:ext uri="{FF2B5EF4-FFF2-40B4-BE49-F238E27FC236}">
                <a16:creationId xmlns:a16="http://schemas.microsoft.com/office/drawing/2014/main" id="{338BC906-9D03-4280-85E8-21A81BC21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C5C06D53-C9F6-47E8-BFE1-B8193A1AE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52402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E9872E9-2F0D-2FEB-0974-F0BBBC5E033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238999" y="6356350"/>
            <a:ext cx="379561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386775"/>
            <a:ext cx="8311102" cy="3080335"/>
          </a:xfrm>
        </p:spPr>
        <p:txBody>
          <a:bodyPr lIns="0" tIns="274320" rIns="0" bIns="0" anchor="t" anchorCtr="0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9670435">
            <a:off x="7632743" y="794953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01D87F51-D69B-9038-0566-4FDC355AB6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7587" y="411831"/>
            <a:ext cx="3521337" cy="3521344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51239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640080"/>
            <a:ext cx="10302240" cy="1852046"/>
          </a:xfrm>
        </p:spPr>
        <p:txBody>
          <a:bodyPr lIns="0" tIns="0" rIns="0" bIns="0" anchor="b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588447"/>
            <a:ext cx="7853678" cy="726645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7659974" y="4456458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5DDB7824-50BA-B12F-AD49-CA8953CA3A0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36252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52645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640080"/>
            <a:ext cx="7498080" cy="1280160"/>
          </a:xfrm>
        </p:spPr>
        <p:txBody>
          <a:bodyPr lIns="0" tIns="0" rIns="0" bIns="0" anchor="b" anchorCtr="0"/>
          <a:lstStyle>
            <a:lvl1pPr>
              <a:defRPr sz="4000" b="1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2376"/>
            <a:ext cx="520991" cy="517379"/>
          </a:xfrm>
        </p:spPr>
        <p:txBody>
          <a:bodyPr anchor="t" anchorCtr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317615" y="895646"/>
            <a:ext cx="1956925" cy="195692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" anchor="t" anchorCtr="0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14800" y="2194560"/>
            <a:ext cx="7498080" cy="402336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>
              <a:defRPr sz="1600"/>
            </a:lvl2pPr>
            <a:lvl3pPr marL="457200">
              <a:defRPr sz="1400"/>
            </a:lvl3pPr>
            <a:lvl4pPr marL="685800">
              <a:defRPr sz="1200"/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58B5E78-A531-681D-1312-F21B52D06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70685" y="620661"/>
            <a:ext cx="403448" cy="381782"/>
            <a:chOff x="10969280" y="1780012"/>
            <a:chExt cx="403448" cy="381782"/>
          </a:xfrm>
        </p:grpSpPr>
        <p:sp>
          <p:nvSpPr>
            <p:cNvPr id="17" name="Graphic 10">
              <a:extLst>
                <a:ext uri="{FF2B5EF4-FFF2-40B4-BE49-F238E27FC236}">
                  <a16:creationId xmlns:a16="http://schemas.microsoft.com/office/drawing/2014/main" id="{AAD06B87-D9B2-4F94-B734-A8F039A20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81590" y="2070656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Graphic 11">
              <a:extLst>
                <a:ext uri="{FF2B5EF4-FFF2-40B4-BE49-F238E27FC236}">
                  <a16:creationId xmlns:a16="http://schemas.microsoft.com/office/drawing/2014/main" id="{BB13A13C-36EA-4B13-9175-C5FE95B34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69280" y="1780012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5189CAD3-7011-6481-11F8-05B5CB106F0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B7CB27F-7A56-A747-A4D6-5627C2463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+ Sub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3383280"/>
            <a:ext cx="10302240" cy="1852046"/>
          </a:xfrm>
        </p:spPr>
        <p:txBody>
          <a:bodyPr lIns="0" tIns="274320" rIns="0" bIns="0" anchor="t" anchorCtr="0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966886"/>
            <a:ext cx="10302237" cy="397191"/>
          </a:xfrm>
        </p:spPr>
        <p:txBody>
          <a:bodyPr lIns="0" tIns="0" rIns="0" bIns="0" anchor="b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97692" y="620298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7912362-D30D-7B0B-BA94-0993B1EBC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2775857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644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85800"/>
            <a:ext cx="9137012" cy="1280160"/>
          </a:xfrm>
        </p:spPr>
        <p:txBody>
          <a:bodyPr lIns="0" tIns="0" rIns="0" bIns="0"/>
          <a:lstStyle>
            <a:lvl1pPr>
              <a:defRPr sz="4000" b="1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F91A5DB-A2CA-1D70-9A06-3869A288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2327440"/>
            <a:ext cx="4846320" cy="4040574"/>
          </a:xfrm>
        </p:spPr>
        <p:txBody>
          <a:bodyPr lIns="0" tIns="0" rIns="0" bIns="0">
            <a:normAutofit/>
          </a:bodyPr>
          <a:lstStyle>
            <a:lvl1pPr marL="0" indent="0">
              <a:spcAft>
                <a:spcPts val="0"/>
              </a:spcAft>
              <a:buNone/>
              <a:defRPr sz="1800"/>
            </a:lvl1pPr>
            <a:lvl2pPr marL="228600">
              <a:spcBef>
                <a:spcPts val="1200"/>
              </a:spcBef>
              <a:defRPr sz="1800"/>
            </a:lvl2pPr>
            <a:lvl3pPr marL="685800">
              <a:spcBef>
                <a:spcPts val="1200"/>
              </a:spcBef>
              <a:defRPr sz="1800"/>
            </a:lvl3pPr>
            <a:lvl4pPr marL="1143000">
              <a:spcBef>
                <a:spcPts val="1200"/>
              </a:spcBef>
              <a:defRPr sz="1800"/>
            </a:lvl4pPr>
            <a:lvl5pPr marL="16002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23402" y="2327441"/>
            <a:ext cx="4846320" cy="4040574"/>
          </a:xfrm>
        </p:spPr>
        <p:txBody>
          <a:bodyPr lIns="0" tIns="0" rIns="0" bIns="0">
            <a:normAutofit/>
          </a:bodyPr>
          <a:lstStyle>
            <a:lvl1pPr marL="0" indent="0">
              <a:spcAft>
                <a:spcPts val="0"/>
              </a:spcAft>
              <a:buNone/>
              <a:defRPr sz="1800"/>
            </a:lvl1pPr>
            <a:lvl2pPr marL="228600">
              <a:spcBef>
                <a:spcPts val="1200"/>
              </a:spcBef>
              <a:defRPr sz="1800"/>
            </a:lvl2pPr>
            <a:lvl3pPr marL="685800">
              <a:spcBef>
                <a:spcPts val="1200"/>
              </a:spcBef>
              <a:defRPr sz="1800"/>
            </a:lvl3pPr>
            <a:lvl4pPr marL="1143000">
              <a:spcBef>
                <a:spcPts val="1200"/>
              </a:spcBef>
              <a:defRPr sz="1800"/>
            </a:lvl4pPr>
            <a:lvl5pPr marL="16002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phic 15">
            <a:extLst>
              <a:ext uri="{FF2B5EF4-FFF2-40B4-BE49-F238E27FC236}">
                <a16:creationId xmlns:a16="http://schemas.microsoft.com/office/drawing/2014/main" id="{A9475260-301F-4744-B1DA-7B00F6FB4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16">
            <a:extLst>
              <a:ext uri="{FF2B5EF4-FFF2-40B4-BE49-F238E27FC236}">
                <a16:creationId xmlns:a16="http://schemas.microsoft.com/office/drawing/2014/main" id="{9BBD3F4B-0836-48C5-AC68-747456D1D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Graphic 14">
            <a:extLst>
              <a:ext uri="{FF2B5EF4-FFF2-40B4-BE49-F238E27FC236}">
                <a16:creationId xmlns:a16="http://schemas.microsoft.com/office/drawing/2014/main" id="{9B4398D5-99F4-4F83-AA77-9B4177648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D6A69CF-70D6-AB12-CD8B-FD75B7EE1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595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9EFE408-BFE1-16DC-F7C6-47F55C171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992" y="0"/>
            <a:ext cx="5779008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572" y="685800"/>
            <a:ext cx="4754880" cy="5670550"/>
          </a:xfrm>
        </p:spPr>
        <p:txBody>
          <a:bodyPr lIns="0" tIns="0" rIns="0" bIns="0" anchor="ctr" anchorCtr="0"/>
          <a:lstStyle>
            <a:lvl1pPr algn="l">
              <a:defRPr sz="40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4C0ED5DD-6381-0FFD-7B45-D21179A39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F042E432-AE48-385B-DEA1-32129394CE7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279526" y="1533524"/>
            <a:ext cx="4663440" cy="1895475"/>
          </a:xfrm>
        </p:spPr>
        <p:txBody>
          <a:bodyPr lIns="0" tIns="0" rIns="0" bIns="0" anchor="t" anchorCtr="0">
            <a:noAutofit/>
          </a:bodyPr>
          <a:lstStyle>
            <a:lvl1pPr marL="342900" indent="-512064">
              <a:spcBef>
                <a:spcPts val="1000"/>
              </a:spcBef>
              <a:buFont typeface="+mj-lt"/>
              <a:buAutoNum type="arabicPeriod"/>
              <a:defRPr sz="1800"/>
            </a:lvl1pPr>
            <a:lvl2pPr marL="1028700" indent="-342900">
              <a:spcBef>
                <a:spcPts val="1200"/>
              </a:spcBef>
              <a:buFont typeface="+mj-lt"/>
              <a:buAutoNum type="alphaLcPeriod"/>
              <a:defRPr sz="1800"/>
            </a:lvl2pPr>
            <a:lvl3pPr marL="1257300" indent="-342900">
              <a:spcBef>
                <a:spcPts val="1200"/>
              </a:spcBef>
              <a:buFont typeface="+mj-lt"/>
              <a:buAutoNum type="arabicParenR"/>
              <a:defRPr sz="1800"/>
            </a:lvl3pPr>
            <a:lvl4pPr marL="1714500" indent="-342900">
              <a:spcBef>
                <a:spcPts val="1200"/>
              </a:spcBef>
              <a:buFont typeface="+mj-lt"/>
              <a:buAutoNum type="alphaLcParenR"/>
              <a:defRPr sz="1800"/>
            </a:lvl4pPr>
            <a:lvl5pPr marL="2228850" indent="-400050">
              <a:spcBef>
                <a:spcPts val="1200"/>
              </a:spcBef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DF111B2E-0535-57E2-FE92-620F9307A95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0160" y="3482974"/>
            <a:ext cx="4663440" cy="1190033"/>
          </a:xfr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spcBef>
                <a:spcPts val="1200"/>
              </a:spcBef>
              <a:buNone/>
              <a:defRPr sz="1600"/>
            </a:lvl2pPr>
            <a:lvl3pPr marL="914400" indent="0">
              <a:spcBef>
                <a:spcPts val="1200"/>
              </a:spcBef>
              <a:buNone/>
              <a:defRPr sz="1400"/>
            </a:lvl3pPr>
            <a:lvl4pPr marL="1371600" indent="0">
              <a:spcBef>
                <a:spcPts val="1200"/>
              </a:spcBef>
              <a:buNone/>
              <a:defRPr sz="1200"/>
            </a:lvl4pPr>
            <a:lvl5pPr marL="1828800" indent="0">
              <a:spcBef>
                <a:spcPts val="12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1280160" y="4692058"/>
            <a:ext cx="4663440" cy="1584918"/>
          </a:xfrm>
        </p:spPr>
        <p:txBody>
          <a:bodyPr lIns="0" tIns="0" rIns="0" bIns="0" anchor="t" anchorCtr="0">
            <a:noAutofit/>
          </a:bodyPr>
          <a:lstStyle>
            <a:lvl1pPr>
              <a:spcBef>
                <a:spcPts val="1200"/>
              </a:spcBef>
              <a:defRPr sz="1800"/>
            </a:lvl1pPr>
            <a:lvl2pPr>
              <a:spcBef>
                <a:spcPts val="1200"/>
              </a:spcBef>
              <a:defRPr sz="1600"/>
            </a:lvl2pPr>
            <a:lvl3pPr>
              <a:spcBef>
                <a:spcPts val="1200"/>
              </a:spcBef>
              <a:defRPr sz="1400"/>
            </a:lvl3pPr>
            <a:lvl4pPr>
              <a:spcBef>
                <a:spcPts val="1200"/>
              </a:spcBef>
              <a:defRPr sz="1200"/>
            </a:lvl4pPr>
            <a:lvl5pPr>
              <a:spcBef>
                <a:spcPts val="1200"/>
              </a:spcBef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4C23E1A-9E5E-DA12-8E11-83F486766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3FE6E42-6A8F-C459-87EE-E2A5BAFA8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320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60" y="301752"/>
            <a:ext cx="4663438" cy="2441448"/>
          </a:xfrm>
        </p:spPr>
        <p:txBody>
          <a:bodyPr lIns="0" tIns="0" rIns="0" bIns="0" anchor="ctr" anchorCtr="0"/>
          <a:lstStyle>
            <a:lvl1pPr algn="l">
              <a:lnSpc>
                <a:spcPts val="4000"/>
              </a:lnSpc>
              <a:spcBef>
                <a:spcPts val="1000"/>
              </a:spcBef>
              <a:defRPr sz="4000" b="1" i="0" cap="all" spc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FB40175-FA51-DA14-A5B2-CD06DE6ECC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80161" y="2777067"/>
            <a:ext cx="4663440" cy="3550581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>
              <a:lnSpc>
                <a:spcPct val="110000"/>
              </a:lnSpc>
              <a:defRPr sz="1600"/>
            </a:lvl2pPr>
            <a:lvl3pPr marL="457200">
              <a:lnSpc>
                <a:spcPct val="110000"/>
              </a:lnSpc>
              <a:defRPr sz="1400"/>
            </a:lvl3pPr>
            <a:lvl4pPr marL="685800">
              <a:lnSpc>
                <a:spcPct val="110000"/>
              </a:lnSpc>
              <a:defRPr sz="1200"/>
            </a:lvl4pPr>
            <a:lvl5pPr marL="914400">
              <a:lnSpc>
                <a:spcPct val="110000"/>
              </a:lnSpc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5930B2-E36D-4D05-A6B3-CA1BF61D5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089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95553" y="301752"/>
            <a:ext cx="5221224" cy="6263640"/>
          </a:xfrm>
        </p:spPr>
        <p:txBody>
          <a:bodyPr tIns="914400" anchor="t" anchorCtr="0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7A4AE671-C203-0370-2888-FC8F7D444D1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43482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792BFA8-57AD-0B5C-2534-1E862B58D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5127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807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59" y="640080"/>
            <a:ext cx="4815836" cy="2103120"/>
          </a:xfrm>
        </p:spPr>
        <p:txBody>
          <a:bodyPr lIns="0" tIns="0" rIns="0" bIns="0" anchor="ctr" anchorCtr="0"/>
          <a:lstStyle>
            <a:lvl1pPr algn="l">
              <a:defRPr sz="40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183E8BD-29F0-8F9F-FC7D-73F8067BCDD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C983CA3-739C-6C20-AFE0-0997370354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31427" y="640080"/>
            <a:ext cx="5122889" cy="2103120"/>
          </a:xfrm>
        </p:spPr>
        <p:txBody>
          <a:bodyPr lIns="0" tIns="0" rIns="0" bIns="0" anchor="ctr" anchorCtr="0">
            <a:normAutofit/>
          </a:bodyPr>
          <a:lstStyle>
            <a:lvl1pPr marL="0" indent="0">
              <a:lnSpc>
                <a:spcPct val="110000"/>
              </a:lnSpc>
              <a:buNone/>
              <a:defRPr sz="1800">
                <a:solidFill>
                  <a:schemeClr val="tx1"/>
                </a:solidFill>
              </a:defRPr>
            </a:lvl1pPr>
            <a:lvl2pPr marL="228600">
              <a:lnSpc>
                <a:spcPct val="100000"/>
              </a:lnSpc>
              <a:defRPr sz="1600">
                <a:solidFill>
                  <a:schemeClr val="tx1"/>
                </a:solidFill>
              </a:defRPr>
            </a:lvl2pPr>
            <a:lvl3pPr marL="457200">
              <a:lnSpc>
                <a:spcPct val="100000"/>
              </a:lnSpc>
              <a:defRPr sz="1400">
                <a:solidFill>
                  <a:schemeClr val="tx1"/>
                </a:solidFill>
              </a:defRPr>
            </a:lvl3pPr>
            <a:lvl4pPr marL="685800">
              <a:lnSpc>
                <a:spcPct val="100000"/>
              </a:lnSpc>
              <a:defRPr sz="1200">
                <a:solidFill>
                  <a:schemeClr val="tx1"/>
                </a:solidFill>
              </a:defRPr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BC9F29C-BBE9-AFB4-AFC6-30BCA4EB2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BC4D286-C480-B4CF-4406-CACC323F9FAD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1280160" y="3017520"/>
            <a:ext cx="10374152" cy="3208866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EE2817-4518-D59A-BD13-29A3D4FE64F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539516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905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4970638"/>
            <a:ext cx="9144000" cy="1280160"/>
          </a:xfrm>
        </p:spPr>
        <p:txBody>
          <a:bodyPr lIns="0" tIns="0" rIns="0" bIns="0" anchor="b" anchorCtr="0"/>
          <a:lstStyle>
            <a:lvl1pPr algn="l">
              <a:defRPr sz="40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F0626849-9D2D-3C95-8C10-FA8F325F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685800"/>
            <a:ext cx="4937760" cy="402336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>
              <a:spcBef>
                <a:spcPts val="1200"/>
              </a:spcBef>
              <a:defRPr sz="1800"/>
            </a:lvl2pPr>
            <a:lvl3pPr marL="914400">
              <a:spcBef>
                <a:spcPts val="1200"/>
              </a:spcBef>
              <a:defRPr sz="1800"/>
            </a:lvl3pPr>
            <a:lvl4pPr marL="1371600">
              <a:spcBef>
                <a:spcPts val="1200"/>
              </a:spcBef>
              <a:defRPr sz="1800"/>
            </a:lvl4pPr>
            <a:lvl5pPr marL="18288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04755" y="685800"/>
            <a:ext cx="4937760" cy="4023360"/>
          </a:xfrm>
        </p:spPr>
        <p:txBody>
          <a:bodyPr lIns="0" tIns="0" rIns="0" bIns="0">
            <a:noAutofit/>
          </a:bodyPr>
          <a:lstStyle>
            <a:lvl1pPr>
              <a:spcBef>
                <a:spcPts val="1200"/>
              </a:spcBef>
              <a:defRPr sz="1800"/>
            </a:lvl1pPr>
            <a:lvl2pPr>
              <a:spcBef>
                <a:spcPts val="1200"/>
              </a:spcBef>
              <a:defRPr sz="1800"/>
            </a:lvl2pPr>
            <a:lvl3pPr>
              <a:spcBef>
                <a:spcPts val="1200"/>
              </a:spcBef>
              <a:defRPr sz="1800"/>
            </a:lvl3pPr>
            <a:lvl4pPr>
              <a:spcBef>
                <a:spcPts val="1200"/>
              </a:spcBef>
              <a:defRPr sz="1800"/>
            </a:lvl4pPr>
            <a:lvl5pPr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717D91C-F78C-0E4C-FB27-7112AB840A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22570" y="5680647"/>
            <a:ext cx="465456" cy="581432"/>
            <a:chOff x="7843462" y="2744546"/>
            <a:chExt cx="465456" cy="581432"/>
          </a:xfrm>
        </p:grpSpPr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CC935CF3-75DF-0DC7-1B2A-E0E0205DF64B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Graphic 13">
              <a:extLst>
                <a:ext uri="{FF2B5EF4-FFF2-40B4-BE49-F238E27FC236}">
                  <a16:creationId xmlns:a16="http://schemas.microsoft.com/office/drawing/2014/main" id="{D5782BEB-6319-DEC1-F9ED-BA9201C6B9B7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Graphic 15">
              <a:extLst>
                <a:ext uri="{FF2B5EF4-FFF2-40B4-BE49-F238E27FC236}">
                  <a16:creationId xmlns:a16="http://schemas.microsoft.com/office/drawing/2014/main" id="{6E59DFAF-9794-BD12-D89A-422FFFFCE023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6444A47-BCB3-5C86-F2B8-25092BE8D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648C53D-49AB-C003-70E8-5117AF079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96BC1DE-6696-3408-564E-2D73B1266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0711518" y="5393214"/>
            <a:ext cx="1097341" cy="736658"/>
            <a:chOff x="10508317" y="446637"/>
            <a:chExt cx="1097341" cy="736658"/>
          </a:xfrm>
        </p:grpSpPr>
        <p:sp>
          <p:nvSpPr>
            <p:cNvPr id="25" name="Graphic 15">
              <a:extLst>
                <a:ext uri="{FF2B5EF4-FFF2-40B4-BE49-F238E27FC236}">
                  <a16:creationId xmlns:a16="http://schemas.microsoft.com/office/drawing/2014/main" id="{268EB1E4-29D6-C3F5-BCBB-FB7E7EE5C2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08317" y="492206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" name="Graphic 16">
              <a:extLst>
                <a:ext uri="{FF2B5EF4-FFF2-40B4-BE49-F238E27FC236}">
                  <a16:creationId xmlns:a16="http://schemas.microsoft.com/office/drawing/2014/main" id="{09524D46-140F-2F4F-430B-F59815A07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477944" y="1055581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Graphic 14">
              <a:extLst>
                <a:ext uri="{FF2B5EF4-FFF2-40B4-BE49-F238E27FC236}">
                  <a16:creationId xmlns:a16="http://schemas.microsoft.com/office/drawing/2014/main" id="{AC75143B-C717-8D04-743C-B40FB5EFB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41555" y="446637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87376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40080"/>
            <a:ext cx="10087699" cy="1280160"/>
          </a:xfrm>
        </p:spPr>
        <p:txBody>
          <a:bodyPr lIns="0" tIns="0" rIns="0" bIns="0" anchor="b" anchorCtr="0"/>
          <a:lstStyle>
            <a:lvl1pPr>
              <a:defRPr sz="4000" b="1" cap="all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6B8DF0-B7E6-5032-C3C7-E457E793B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80160" y="2103119"/>
            <a:ext cx="10087699" cy="4114800"/>
          </a:xfrm>
        </p:spPr>
        <p:txBody>
          <a:bodyPr lIns="0" tIns="0" rIns="0" bIns="0"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C5F4D40-ADE4-5EEB-436C-8563A49C5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7450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ubbles and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97" y="585216"/>
            <a:ext cx="8965094" cy="2276856"/>
          </a:xfrm>
        </p:spPr>
        <p:txBody>
          <a:bodyPr lIns="0" tIns="0" rIns="0" anchor="b"/>
          <a:lstStyle>
            <a:lvl1pPr algn="r">
              <a:lnSpc>
                <a:spcPts val="4800"/>
              </a:lnSpc>
              <a:defRPr sz="48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FC9B12A4-113B-B3F6-5926-5C2A6F504AB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371606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40609" y="3127248"/>
            <a:ext cx="6117381" cy="3017520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AF51D36-DB19-27CD-47E0-A4261648D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8614240">
            <a:off x="3975343" y="2819532"/>
            <a:ext cx="465456" cy="581432"/>
            <a:chOff x="7843462" y="2744546"/>
            <a:chExt cx="465456" cy="581432"/>
          </a:xfrm>
        </p:grpSpPr>
        <p:sp>
          <p:nvSpPr>
            <p:cNvPr id="4" name="Graphic 12">
              <a:extLst>
                <a:ext uri="{FF2B5EF4-FFF2-40B4-BE49-F238E27FC236}">
                  <a16:creationId xmlns:a16="http://schemas.microsoft.com/office/drawing/2014/main" id="{3EFED0E0-17D4-C5B0-09D0-B43338A856B3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" name="Graphic 13">
              <a:extLst>
                <a:ext uri="{FF2B5EF4-FFF2-40B4-BE49-F238E27FC236}">
                  <a16:creationId xmlns:a16="http://schemas.microsoft.com/office/drawing/2014/main" id="{8F798BBE-9B6F-700D-08A1-09ABC5388CCE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" name="Graphic 15">
              <a:extLst>
                <a:ext uri="{FF2B5EF4-FFF2-40B4-BE49-F238E27FC236}">
                  <a16:creationId xmlns:a16="http://schemas.microsoft.com/office/drawing/2014/main" id="{4AE2D1C5-9D85-9049-690C-3AFCE7E2DA56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0FE75D-ACD3-655E-58A7-8F2C18276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9362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36525"/>
            <a:ext cx="10515600" cy="1509713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390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5B2B208-F5B9-0151-C982-A389CB0B29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91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0EEA6CA-DE1E-18ED-E69E-54A1372FE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973C81-5E94-41F6-CE15-3B4763B3A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835B5C-F994-9D57-3118-919EE90F5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867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A101FF"/>
            </a:gs>
            <a:gs pos="0">
              <a:schemeClr val="tx1"/>
            </a:gs>
          </a:gsLst>
          <a:lin ang="180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394" y="1"/>
            <a:ext cx="9918405" cy="16462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5394" y="1825625"/>
            <a:ext cx="991840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6121" y="726630"/>
            <a:ext cx="520991" cy="51737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800" b="1" i="0" cap="all" spc="100" baseline="0"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F1C86-6A9C-D287-D381-5634A69BF1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35394" y="6356350"/>
            <a:ext cx="27432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B8477-3F24-EDCB-C8AC-8433636391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38999" y="6356350"/>
            <a:ext cx="41148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71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17" r:id="rId2"/>
    <p:sldLayoutId id="2147483728" r:id="rId3"/>
    <p:sldLayoutId id="2147483729" r:id="rId4"/>
    <p:sldLayoutId id="2147483710" r:id="rId5"/>
    <p:sldLayoutId id="2147483727" r:id="rId6"/>
    <p:sldLayoutId id="2147483701" r:id="rId7"/>
    <p:sldLayoutId id="2147483721" r:id="rId8"/>
    <p:sldLayoutId id="2147483720" r:id="rId9"/>
    <p:sldLayoutId id="2147483730" r:id="rId10"/>
    <p:sldLayoutId id="2147483722" r:id="rId11"/>
    <p:sldLayoutId id="2147483698" r:id="rId12"/>
    <p:sldLayoutId id="2147483732" r:id="rId13"/>
    <p:sldLayoutId id="2147483702" r:id="rId14"/>
    <p:sldLayoutId id="2147483703" r:id="rId15"/>
  </p:sldLayoutIdLst>
  <p:hf sldNum="0" hdr="0" ftr="0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Sales%20Operations%20Assessment%20-%20Nov%2025%20(1).xlsx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9968B-2619-4F71-AB00-4C493E120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383280"/>
            <a:ext cx="10302240" cy="968801"/>
          </a:xfrm>
        </p:spPr>
        <p:txBody>
          <a:bodyPr/>
          <a:lstStyle/>
          <a:p>
            <a:r>
              <a:rPr lang="en-US" dirty="0"/>
              <a:t>2026 market planning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8BEB81-E161-77BA-7DC6-A7CC52E586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Campaign Performance Insights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31940B-2F73-8F8B-3D6D-EFAF90509F46}"/>
              </a:ext>
            </a:extLst>
          </p:cNvPr>
          <p:cNvSpPr txBox="1"/>
          <p:nvPr/>
        </p:nvSpPr>
        <p:spPr>
          <a:xfrm>
            <a:off x="1280158" y="4618299"/>
            <a:ext cx="5016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By Vishwas Tilwani</a:t>
            </a:r>
          </a:p>
        </p:txBody>
      </p:sp>
    </p:spTree>
    <p:extLst>
      <p:ext uri="{BB962C8B-B14F-4D97-AF65-F5344CB8AC3E}">
        <p14:creationId xmlns:p14="http://schemas.microsoft.com/office/powerpoint/2010/main" val="2955403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Mountains at sunset">
            <a:extLst>
              <a:ext uri="{FF2B5EF4-FFF2-40B4-BE49-F238E27FC236}">
                <a16:creationId xmlns:a16="http://schemas.microsoft.com/office/drawing/2014/main" id="{B520C53E-8329-74AB-5229-BCDE630B2E1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/>
          <a:stretch/>
        </p:blipFill>
        <p:spPr>
          <a:xfrm>
            <a:off x="8231220" y="3387242"/>
            <a:ext cx="4589858" cy="4589867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FF243DF-1FE9-01BE-435F-1729F4AB3D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3294" y="-807212"/>
            <a:ext cx="10302240" cy="1852046"/>
          </a:xfrm>
        </p:spPr>
        <p:txBody>
          <a:bodyPr/>
          <a:lstStyle/>
          <a:p>
            <a:r>
              <a:rPr lang="en-US" sz="3200" dirty="0"/>
              <a:t>Executive summary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AF7377-87AF-3A8C-539C-8A9651F5DA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18801" y="4631034"/>
            <a:ext cx="3573199" cy="2198608"/>
          </a:xfrm>
        </p:spPr>
        <p:txBody>
          <a:bodyPr>
            <a:normAutofit/>
          </a:bodyPr>
          <a:lstStyle/>
          <a:p>
            <a:r>
              <a:rPr lang="en-US" sz="1100" b="1" u="sng" dirty="0"/>
              <a:t>Analytical Criteria:</a:t>
            </a:r>
          </a:p>
          <a:p>
            <a:r>
              <a:rPr lang="en-US" sz="1100" dirty="0"/>
              <a:t>CTR = Clicks / Impressions (‘000 × 1000)</a:t>
            </a:r>
          </a:p>
          <a:p>
            <a:r>
              <a:rPr lang="en-US" sz="1100" dirty="0"/>
              <a:t>CVR = Conversions / Clicks</a:t>
            </a:r>
          </a:p>
          <a:p>
            <a:r>
              <a:rPr lang="en-US" sz="1100" dirty="0"/>
              <a:t>ROAS = Revenue / Ad Spend</a:t>
            </a:r>
          </a:p>
          <a:p>
            <a:r>
              <a:rPr lang="en-US" sz="1100" dirty="0"/>
              <a:t>CPA = Ad Spend / Conversions </a:t>
            </a:r>
          </a:p>
          <a:p>
            <a:r>
              <a:rPr lang="en-US" sz="1100" dirty="0"/>
              <a:t>Satisfaction Rating Classification: </a:t>
            </a:r>
            <a:br>
              <a:rPr lang="en-US" sz="1100" dirty="0"/>
            </a:br>
            <a:r>
              <a:rPr lang="en-US" sz="1100" dirty="0"/>
              <a:t>Low &lt;2, Medium 2–4, High = 5</a:t>
            </a:r>
          </a:p>
          <a:p>
            <a:r>
              <a:rPr lang="en-US" sz="1100" dirty="0"/>
              <a:t>Campaign classification based on Completion Date i.e. Ongoing and Completed. </a:t>
            </a:r>
          </a:p>
          <a:p>
            <a:endParaRPr lang="en-US" sz="1100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51A1A80C-528C-5D70-690A-59EB59121430}"/>
              </a:ext>
            </a:extLst>
          </p:cNvPr>
          <p:cNvSpPr txBox="1">
            <a:spLocks/>
          </p:cNvSpPr>
          <p:nvPr/>
        </p:nvSpPr>
        <p:spPr>
          <a:xfrm>
            <a:off x="1467816" y="1175824"/>
            <a:ext cx="7928344" cy="4506352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F68258-0C7A-AEEA-7A6F-9F86C7545604}"/>
              </a:ext>
            </a:extLst>
          </p:cNvPr>
          <p:cNvSpPr txBox="1"/>
          <p:nvPr/>
        </p:nvSpPr>
        <p:spPr>
          <a:xfrm>
            <a:off x="1322223" y="1279547"/>
            <a:ext cx="6667500" cy="5463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Health &amp; Education deliver the strongest ROI</a:t>
            </a:r>
            <a:r>
              <a:rPr lang="en-US" sz="1600" dirty="0">
                <a:solidFill>
                  <a:schemeClr val="bg1"/>
                </a:solidFill>
              </a:rPr>
              <a:t>, making them priority sectors for 2026.</a:t>
            </a: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Fashion underperforms across profitability</a:t>
            </a:r>
            <a:r>
              <a:rPr lang="en-US" sz="1600" dirty="0">
                <a:solidFill>
                  <a:schemeClr val="bg1"/>
                </a:solidFill>
              </a:rPr>
              <a:t> despite high conversion → cost-side inefficiencies.</a:t>
            </a: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Education has the lowest conversion rate</a:t>
            </a:r>
            <a:r>
              <a:rPr lang="en-US" sz="1600" dirty="0">
                <a:solidFill>
                  <a:schemeClr val="bg1"/>
                </a:solidFill>
              </a:rPr>
              <a:t>, signaling a funnel optimization opportunity.</a:t>
            </a: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Fashion has the highest CPA</a:t>
            </a:r>
            <a:r>
              <a:rPr lang="en-US" sz="1600" dirty="0">
                <a:solidFill>
                  <a:schemeClr val="bg1"/>
                </a:solidFill>
              </a:rPr>
              <a:t>, while </a:t>
            </a:r>
            <a:r>
              <a:rPr lang="en-US" sz="1600" b="1" dirty="0">
                <a:solidFill>
                  <a:schemeClr val="bg1"/>
                </a:solidFill>
              </a:rPr>
              <a:t>Health &amp; Education remain most cost-efficient</a:t>
            </a:r>
            <a:r>
              <a:rPr lang="en-US" sz="1600" dirty="0">
                <a:solidFill>
                  <a:schemeClr val="bg1"/>
                </a:solidFill>
              </a:rPr>
              <a:t>.</a:t>
            </a: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Low-satisfaction campaigns show the highest ROAS</a:t>
            </a:r>
            <a:r>
              <a:rPr lang="en-US" sz="1600" dirty="0">
                <a:solidFill>
                  <a:schemeClr val="bg1"/>
                </a:solidFill>
              </a:rPr>
              <a:t>, indicating expectation-setting and communication gaps.</a:t>
            </a: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Youths 18–24 &amp; Professionals 35–50 are the strongest audiences</a:t>
            </a:r>
            <a:r>
              <a:rPr lang="en-US" sz="1600" dirty="0">
                <a:solidFill>
                  <a:schemeClr val="bg1"/>
                </a:solidFill>
              </a:rPr>
              <a:t>, with high-quality conversions.</a:t>
            </a: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Parents 30–40 show high engagement but weak conversion</a:t>
            </a:r>
            <a:r>
              <a:rPr lang="en-US" sz="1600" dirty="0">
                <a:solidFill>
                  <a:schemeClr val="bg1"/>
                </a:solidFill>
              </a:rPr>
              <a:t>, implying relevance or messaging issues.</a:t>
            </a: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All sectors overspend budgets by 2.5×–2.7×</a:t>
            </a:r>
            <a:r>
              <a:rPr lang="en-US" sz="1600" dirty="0">
                <a:solidFill>
                  <a:schemeClr val="bg1"/>
                </a:solidFill>
              </a:rPr>
              <a:t>, exposing forecasting and pacing challenges.</a:t>
            </a: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Shift toward ongoing campaigns in 2024</a:t>
            </a:r>
            <a:r>
              <a:rPr lang="en-US" sz="1600" dirty="0">
                <a:solidFill>
                  <a:schemeClr val="bg1"/>
                </a:solidFill>
              </a:rPr>
              <a:t> suggests longer campaign cycles and changing workload patterns.</a:t>
            </a: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7812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7ACBC-D938-CE2D-9812-C027579B1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841" y="0"/>
            <a:ext cx="9137012" cy="1280160"/>
          </a:xfrm>
        </p:spPr>
        <p:txBody>
          <a:bodyPr anchor="b"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Return on ad spend (</a:t>
            </a:r>
            <a:r>
              <a:rPr lang="en-US" sz="3200" dirty="0" err="1">
                <a:solidFill>
                  <a:schemeClr val="bg1"/>
                </a:solidFill>
              </a:rPr>
              <a:t>roas</a:t>
            </a:r>
            <a:r>
              <a:rPr lang="en-US" sz="3200" dirty="0">
                <a:solidFill>
                  <a:schemeClr val="bg1"/>
                </a:solidFill>
              </a:rPr>
              <a:t>) by sector</a:t>
            </a:r>
          </a:p>
        </p:txBody>
      </p:sp>
      <p:pic>
        <p:nvPicPr>
          <p:cNvPr id="7" name="Content Placeholder 6" descr="A pie chart with numbers and text&#10;&#10;AI-generated content may be incorrect.">
            <a:extLst>
              <a:ext uri="{FF2B5EF4-FFF2-40B4-BE49-F238E27FC236}">
                <a16:creationId xmlns:a16="http://schemas.microsoft.com/office/drawing/2014/main" id="{2FC1AF25-8492-D634-AB0F-54611A5EF36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157841" y="2152220"/>
            <a:ext cx="5324239" cy="33409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E81E251B-680B-1389-EF21-CA30FEEC7D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902" y="2263941"/>
            <a:ext cx="4846320" cy="4040574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Health &amp; Education show the strongest ROAS (165–170%).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Fashion underperforms comparatively (119%).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Technology &amp; Food deliver mid-range returns.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6F19D8-3E79-9C91-99DF-7DAA21E04979}"/>
              </a:ext>
            </a:extLst>
          </p:cNvPr>
          <p:cNvSpPr txBox="1"/>
          <p:nvPr/>
        </p:nvSpPr>
        <p:spPr>
          <a:xfrm>
            <a:off x="1157841" y="6388526"/>
            <a:ext cx="10508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ROAS - Revenue / Ad Spend</a:t>
            </a:r>
          </a:p>
        </p:txBody>
      </p:sp>
    </p:spTree>
    <p:extLst>
      <p:ext uri="{BB962C8B-B14F-4D97-AF65-F5344CB8AC3E}">
        <p14:creationId xmlns:p14="http://schemas.microsoft.com/office/powerpoint/2010/main" val="1622068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CBF98-8042-D0C4-2D4D-41C8BCD8F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E67D5-454A-0DD5-E125-DAB9DE56D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640080"/>
            <a:ext cx="10087699" cy="559328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CONVERSTION RATE (</a:t>
            </a:r>
            <a:r>
              <a:rPr lang="en-US" dirty="0" err="1">
                <a:solidFill>
                  <a:schemeClr val="bg1"/>
                </a:solidFill>
              </a:rPr>
              <a:t>cvr</a:t>
            </a:r>
            <a:r>
              <a:rPr lang="en-US" dirty="0">
                <a:solidFill>
                  <a:schemeClr val="bg1"/>
                </a:solidFill>
              </a:rPr>
              <a:t>) BY SECTOR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522C6A12-F11A-EA20-9E62-B924035B24E2}"/>
              </a:ext>
            </a:extLst>
          </p:cNvPr>
          <p:cNvSpPr txBox="1">
            <a:spLocks/>
          </p:cNvSpPr>
          <p:nvPr/>
        </p:nvSpPr>
        <p:spPr>
          <a:xfrm>
            <a:off x="1249680" y="2637887"/>
            <a:ext cx="4846320" cy="404057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r>
              <a:rPr lang="en-US" sz="1800" dirty="0">
                <a:solidFill>
                  <a:schemeClr val="bg1"/>
                </a:solidFill>
              </a:rPr>
              <a:t>Fashion has the highest conversion rate (~45.7%).</a:t>
            </a:r>
          </a:p>
          <a:p>
            <a:pPr marL="285750" indent="-285750"/>
            <a:r>
              <a:rPr lang="en-US" sz="1800" dirty="0">
                <a:solidFill>
                  <a:schemeClr val="bg1"/>
                </a:solidFill>
              </a:rPr>
              <a:t>Health &amp; Technology show strong, consistent conversion.</a:t>
            </a:r>
          </a:p>
          <a:p>
            <a:pPr marL="285750" indent="-285750"/>
            <a:r>
              <a:rPr lang="en-US" sz="1800" dirty="0">
                <a:solidFill>
                  <a:schemeClr val="bg1"/>
                </a:solidFill>
              </a:rPr>
              <a:t>Education has the lowest CVR (~39.3%) → funnel inefficiency.</a:t>
            </a:r>
          </a:p>
        </p:txBody>
      </p:sp>
      <p:pic>
        <p:nvPicPr>
          <p:cNvPr id="12" name="Picture 11" descr="A graph with different colored bars&#10;&#10;AI-generated content may be incorrect.">
            <a:extLst>
              <a:ext uri="{FF2B5EF4-FFF2-40B4-BE49-F238E27FC236}">
                <a16:creationId xmlns:a16="http://schemas.microsoft.com/office/drawing/2014/main" id="{A45AC943-F050-6748-101F-6D8F537210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009" y="2141219"/>
            <a:ext cx="5486400" cy="32131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5570D27-3A94-0153-F248-FBD5004F8325}"/>
              </a:ext>
            </a:extLst>
          </p:cNvPr>
          <p:cNvSpPr txBox="1"/>
          <p:nvPr/>
        </p:nvSpPr>
        <p:spPr>
          <a:xfrm>
            <a:off x="1249680" y="6356995"/>
            <a:ext cx="10508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CVR = Conversions / Clicks</a:t>
            </a:r>
          </a:p>
        </p:txBody>
      </p:sp>
    </p:spTree>
    <p:extLst>
      <p:ext uri="{BB962C8B-B14F-4D97-AF65-F5344CB8AC3E}">
        <p14:creationId xmlns:p14="http://schemas.microsoft.com/office/powerpoint/2010/main" val="2326598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6C2B0-B306-E30B-8E35-D26B019BF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B5289-014E-07DE-589B-E2B523A69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150" y="-541821"/>
            <a:ext cx="10087699" cy="1280160"/>
          </a:xfrm>
        </p:spPr>
        <p:txBody>
          <a:bodyPr/>
          <a:lstStyle/>
          <a:p>
            <a:r>
              <a:rPr lang="en-US" sz="3200" dirty="0">
                <a:solidFill>
                  <a:schemeClr val="bg1"/>
                </a:solidFill>
              </a:rPr>
              <a:t>COST PER ACQUISITION (CPA) BY SECTOR</a:t>
            </a:r>
          </a:p>
        </p:txBody>
      </p:sp>
      <p:pic>
        <p:nvPicPr>
          <p:cNvPr id="7" name="Content Placeholder 6" descr="A graph of a bar chart&#10;&#10;AI-generated content may be incorrect.">
            <a:extLst>
              <a:ext uri="{FF2B5EF4-FFF2-40B4-BE49-F238E27FC236}">
                <a16:creationId xmlns:a16="http://schemas.microsoft.com/office/drawing/2014/main" id="{C1149CF1-9E08-E927-B91D-40DEFF393D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52150" y="1826419"/>
            <a:ext cx="6172200" cy="3505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9E85AC07-5D8D-E0CB-9BF5-12BB7D760036}"/>
              </a:ext>
            </a:extLst>
          </p:cNvPr>
          <p:cNvSpPr txBox="1">
            <a:spLocks/>
          </p:cNvSpPr>
          <p:nvPr/>
        </p:nvSpPr>
        <p:spPr>
          <a:xfrm>
            <a:off x="7224350" y="2193387"/>
            <a:ext cx="4846320" cy="404057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r>
              <a:rPr lang="en-US" sz="1800" dirty="0">
                <a:solidFill>
                  <a:schemeClr val="bg1"/>
                </a:solidFill>
              </a:rPr>
              <a:t>Fashion has the highest CPA (~$104) -&gt; least cost-efficient. </a:t>
            </a:r>
          </a:p>
          <a:p>
            <a:pPr marL="285750" indent="-285750"/>
            <a:r>
              <a:rPr lang="en-US" sz="1800" dirty="0">
                <a:solidFill>
                  <a:schemeClr val="bg1"/>
                </a:solidFill>
              </a:rPr>
              <a:t>Education and Health are most efficient (~$75). </a:t>
            </a:r>
          </a:p>
          <a:p>
            <a:pPr marL="285750" indent="-285750"/>
            <a:r>
              <a:rPr lang="en-US" sz="1800" dirty="0">
                <a:solidFill>
                  <a:schemeClr val="bg1"/>
                </a:solidFill>
              </a:rPr>
              <a:t>Food and Technology is in the mid-range.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40FF1F-66C3-256E-153A-B254E087A159}"/>
              </a:ext>
            </a:extLst>
          </p:cNvPr>
          <p:cNvSpPr txBox="1"/>
          <p:nvPr/>
        </p:nvSpPr>
        <p:spPr>
          <a:xfrm>
            <a:off x="1249680" y="6356995"/>
            <a:ext cx="10508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CPA = Ad Spend / Conversions</a:t>
            </a:r>
          </a:p>
        </p:txBody>
      </p:sp>
    </p:spTree>
    <p:extLst>
      <p:ext uri="{BB962C8B-B14F-4D97-AF65-F5344CB8AC3E}">
        <p14:creationId xmlns:p14="http://schemas.microsoft.com/office/powerpoint/2010/main" val="1340572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BB296-BE59-451B-75AB-E4D0FB670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8971F-ACBA-48DA-1604-4BE7814C1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-428699"/>
            <a:ext cx="10087699" cy="128016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SATISFACTION RATING VS ROAS</a:t>
            </a:r>
          </a:p>
        </p:txBody>
      </p:sp>
      <p:pic>
        <p:nvPicPr>
          <p:cNvPr id="7" name="Content Placeholder 6" descr="A graph showing the growth of a company&#10;&#10;AI-generated content may be incorrect.">
            <a:extLst>
              <a:ext uri="{FF2B5EF4-FFF2-40B4-BE49-F238E27FC236}">
                <a16:creationId xmlns:a16="http://schemas.microsoft.com/office/drawing/2014/main" id="{0735AC3C-8F3A-23BD-4671-81EEF2DD4D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507957" y="1676400"/>
            <a:ext cx="5473700" cy="3759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C757FD63-0A71-027B-FB26-073BA6B70FF5}"/>
              </a:ext>
            </a:extLst>
          </p:cNvPr>
          <p:cNvSpPr txBox="1">
            <a:spLocks/>
          </p:cNvSpPr>
          <p:nvPr/>
        </p:nvSpPr>
        <p:spPr>
          <a:xfrm>
            <a:off x="837725" y="2307687"/>
            <a:ext cx="4846320" cy="404057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r>
              <a:rPr lang="en-US" sz="1800" dirty="0">
                <a:solidFill>
                  <a:schemeClr val="bg1"/>
                </a:solidFill>
              </a:rPr>
              <a:t>Low-satisfaction campaigns show the highest ROAS.</a:t>
            </a:r>
          </a:p>
          <a:p>
            <a:pPr marL="285750" indent="-285750"/>
            <a:r>
              <a:rPr lang="en-US" sz="1800" dirty="0">
                <a:solidFill>
                  <a:schemeClr val="bg1"/>
                </a:solidFill>
              </a:rPr>
              <a:t>High satisfaction ≠ highest performance (expectation gap).</a:t>
            </a:r>
          </a:p>
          <a:p>
            <a:pPr marL="285750" indent="-285750"/>
            <a:r>
              <a:rPr lang="en-US" sz="1800" dirty="0">
                <a:solidFill>
                  <a:schemeClr val="bg1"/>
                </a:solidFill>
              </a:rPr>
              <a:t>Opportunity to improve communication &amp; account management.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DB758F-B6B0-E60B-E71B-A98C7BA7AC41}"/>
              </a:ext>
            </a:extLst>
          </p:cNvPr>
          <p:cNvSpPr txBox="1"/>
          <p:nvPr/>
        </p:nvSpPr>
        <p:spPr>
          <a:xfrm>
            <a:off x="8158347" y="6025095"/>
            <a:ext cx="66134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Satisfaction Rating Classification:</a:t>
            </a:r>
          </a:p>
          <a:p>
            <a:r>
              <a:rPr lang="en-US" sz="1800" dirty="0">
                <a:solidFill>
                  <a:schemeClr val="bg1"/>
                </a:solidFill>
              </a:rPr>
              <a:t>Low &lt;2, Medium 2–4, High = 5</a:t>
            </a:r>
          </a:p>
        </p:txBody>
      </p:sp>
    </p:spTree>
    <p:extLst>
      <p:ext uri="{BB962C8B-B14F-4D97-AF65-F5344CB8AC3E}">
        <p14:creationId xmlns:p14="http://schemas.microsoft.com/office/powerpoint/2010/main" val="2471953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3FB86-3832-1B1A-0958-99B006F42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20E16-C608-6C38-DDE8-928879420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-404949"/>
            <a:ext cx="10087699" cy="128016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Audience performance </a:t>
            </a:r>
          </a:p>
        </p:txBody>
      </p:sp>
      <p:pic>
        <p:nvPicPr>
          <p:cNvPr id="11" name="Content Placeholder 10" descr="Purple bar graph with black line&#10;&#10;AI-generated content may be incorrect.">
            <a:extLst>
              <a:ext uri="{FF2B5EF4-FFF2-40B4-BE49-F238E27FC236}">
                <a16:creationId xmlns:a16="http://schemas.microsoft.com/office/drawing/2014/main" id="{C73DFF0D-2555-730D-5341-F79D7C5922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91406" y="1944688"/>
            <a:ext cx="5537200" cy="38227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E53ACD3A-5DC9-09E1-8625-23D4AA948F97}"/>
              </a:ext>
            </a:extLst>
          </p:cNvPr>
          <p:cNvSpPr txBox="1">
            <a:spLocks/>
          </p:cNvSpPr>
          <p:nvPr/>
        </p:nvSpPr>
        <p:spPr>
          <a:xfrm>
            <a:off x="6933725" y="2637887"/>
            <a:ext cx="4846320" cy="404057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r>
              <a:rPr lang="en-US" sz="1800" dirty="0">
                <a:solidFill>
                  <a:schemeClr val="bg1"/>
                </a:solidFill>
              </a:rPr>
              <a:t>Youths 18–24 show the highest CVR (~46%).</a:t>
            </a:r>
          </a:p>
          <a:p>
            <a:pPr marL="285750" indent="-285750"/>
            <a:r>
              <a:rPr lang="en-US" sz="1800" dirty="0">
                <a:solidFill>
                  <a:schemeClr val="bg1"/>
                </a:solidFill>
              </a:rPr>
              <a:t>Parents 30–40 have the lowest CVR (~38%).</a:t>
            </a:r>
          </a:p>
          <a:p>
            <a:pPr marL="285750" indent="-285750"/>
            <a:r>
              <a:rPr lang="en-US" sz="1800" dirty="0">
                <a:solidFill>
                  <a:schemeClr val="bg1"/>
                </a:solidFill>
              </a:rPr>
              <a:t>Adults 25–34 &amp; Parents overlap in performance.</a:t>
            </a:r>
          </a:p>
        </p:txBody>
      </p:sp>
    </p:spTree>
    <p:extLst>
      <p:ext uri="{BB962C8B-B14F-4D97-AF65-F5344CB8AC3E}">
        <p14:creationId xmlns:p14="http://schemas.microsoft.com/office/powerpoint/2010/main" val="2044297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C87CF-CF04-36A8-F600-98CD19D6B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F053B-BDA7-6FCB-D547-2192C37F8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7689" y="-123714"/>
            <a:ext cx="10087699" cy="128016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Budget utilization </a:t>
            </a:r>
          </a:p>
        </p:txBody>
      </p:sp>
      <p:pic>
        <p:nvPicPr>
          <p:cNvPr id="7" name="Content Placeholder 6" descr="A graph of a budget&#10;&#10;AI-generated content may be incorrect.">
            <a:extLst>
              <a:ext uri="{FF2B5EF4-FFF2-40B4-BE49-F238E27FC236}">
                <a16:creationId xmlns:a16="http://schemas.microsoft.com/office/drawing/2014/main" id="{47F185FF-BB31-F9B3-2B76-D49FD72A25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96000" y="1807369"/>
            <a:ext cx="5816600" cy="38227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396D1B86-B0CB-C426-1D3D-1D9EC62B8B84}"/>
              </a:ext>
            </a:extLst>
          </p:cNvPr>
          <p:cNvSpPr txBox="1">
            <a:spLocks/>
          </p:cNvSpPr>
          <p:nvPr/>
        </p:nvSpPr>
        <p:spPr>
          <a:xfrm>
            <a:off x="1028225" y="2574387"/>
            <a:ext cx="4846320" cy="404057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52A8DD51-CD15-E764-7405-2865179BF084}"/>
              </a:ext>
            </a:extLst>
          </p:cNvPr>
          <p:cNvSpPr txBox="1">
            <a:spLocks/>
          </p:cNvSpPr>
          <p:nvPr/>
        </p:nvSpPr>
        <p:spPr>
          <a:xfrm>
            <a:off x="1028225" y="2596074"/>
            <a:ext cx="4846320" cy="192512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r>
              <a:rPr lang="en-US" sz="1800" dirty="0">
                <a:solidFill>
                  <a:schemeClr val="bg1"/>
                </a:solidFill>
              </a:rPr>
              <a:t>All sectors exceed planned budgets by 2.5×–2.7×.</a:t>
            </a:r>
          </a:p>
          <a:p>
            <a:pPr marL="285750" indent="-285750"/>
            <a:r>
              <a:rPr lang="en-US" sz="1800" dirty="0">
                <a:solidFill>
                  <a:schemeClr val="bg1"/>
                </a:solidFill>
              </a:rPr>
              <a:t>Indicates systemic forecasting and pacing issues.</a:t>
            </a:r>
          </a:p>
          <a:p>
            <a:pPr marL="285750" indent="-285750"/>
            <a:r>
              <a:rPr lang="en-US" sz="1800" dirty="0">
                <a:solidFill>
                  <a:schemeClr val="bg1"/>
                </a:solidFill>
              </a:rPr>
              <a:t>Suggests reactive spending instead of planned execution.</a:t>
            </a:r>
          </a:p>
        </p:txBody>
      </p:sp>
    </p:spTree>
    <p:extLst>
      <p:ext uri="{BB962C8B-B14F-4D97-AF65-F5344CB8AC3E}">
        <p14:creationId xmlns:p14="http://schemas.microsoft.com/office/powerpoint/2010/main" val="422307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3D531-1CAA-7E41-A95A-5EE182FA8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C2D89-6640-E6F5-2FAC-6525367EF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389" y="-476201"/>
            <a:ext cx="10087699" cy="1280160"/>
          </a:xfrm>
        </p:spPr>
        <p:txBody>
          <a:bodyPr/>
          <a:lstStyle/>
          <a:p>
            <a:r>
              <a:rPr lang="en-US" sz="2400" dirty="0">
                <a:solidFill>
                  <a:schemeClr val="bg1"/>
                </a:solidFill>
              </a:rPr>
              <a:t>Period wise Campaign Numbers (All Sectors)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E0D52AE0-2F65-FAD4-81F3-06CF417EFE78}"/>
              </a:ext>
            </a:extLst>
          </p:cNvPr>
          <p:cNvSpPr txBox="1">
            <a:spLocks/>
          </p:cNvSpPr>
          <p:nvPr/>
        </p:nvSpPr>
        <p:spPr>
          <a:xfrm>
            <a:off x="901225" y="1905000"/>
            <a:ext cx="2845275" cy="4224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r>
              <a:rPr lang="en-US" sz="1800" dirty="0">
                <a:solidFill>
                  <a:schemeClr val="bg1"/>
                </a:solidFill>
              </a:rPr>
              <a:t>2023 shows more completed campaigns; 2024 shifts heavily to ongoing campaigns.</a:t>
            </a:r>
          </a:p>
          <a:p>
            <a:pPr marL="285750" indent="-285750"/>
            <a:r>
              <a:rPr lang="en-US" sz="1800" dirty="0">
                <a:solidFill>
                  <a:schemeClr val="bg1"/>
                </a:solidFill>
              </a:rPr>
              <a:t>Clear seasonal peaks: early-year surges, mid-year slowdowns.</a:t>
            </a:r>
          </a:p>
          <a:p>
            <a:pPr marL="285750" indent="-285750"/>
            <a:r>
              <a:rPr lang="en-US" sz="1800" dirty="0">
                <a:solidFill>
                  <a:schemeClr val="bg1"/>
                </a:solidFill>
              </a:rPr>
              <a:t>Indicates shift toward longer, continuously running campaigns.</a:t>
            </a:r>
          </a:p>
        </p:txBody>
      </p:sp>
      <p:pic>
        <p:nvPicPr>
          <p:cNvPr id="8" name="Picture 7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292BF99A-54C7-98E0-135C-81FB9710E5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1300" y="1270000"/>
            <a:ext cx="7772400" cy="465908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529832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1CD1F-FAE4-573B-5116-66CB5F6B9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8231D-7E3D-1B35-0B5D-086F7C0BC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17" y="-323939"/>
            <a:ext cx="10087699" cy="128016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Recommendations	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F79A9CD-523B-CABB-5253-EB39E9FCEA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64017" y="1720840"/>
            <a:ext cx="11024783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8925" marR="0" lvl="0" indent="-2841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Invest in high-performing sectors: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Focus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Health &amp; Education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for scalable ROI.	</a:t>
            </a:r>
          </a:p>
          <a:p>
            <a:pPr marL="288925" marR="0" lvl="0" indent="-2841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88925" marR="0" lvl="0" indent="-2841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Optimize weak-performing areas: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Fix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Fashion’s cost inefficiencies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and improve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Education’s conversion funnel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8925" marR="0" lvl="0" indent="-2841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88925" marR="0" lvl="0" indent="-2841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Fix operational gaps: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Address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budget overspend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pacing issues, and client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expectation alignment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8925" marR="0" lvl="0" indent="-2841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88925" marR="0" lvl="0" indent="-2841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Refine targeting strategy: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Priorities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high-quality audiences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adjust messaging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Parents 30–40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8925" marR="0" lvl="0" indent="-2841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88925" marR="0" lvl="0" indent="-2841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Support shifting campaign patterns: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Plan resources for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increase in ongoing, long-running campaigns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ounded Rectangle 3">
            <a:hlinkClick r:id="rId3"/>
            <a:extLst>
              <a:ext uri="{FF2B5EF4-FFF2-40B4-BE49-F238E27FC236}">
                <a16:creationId xmlns:a16="http://schemas.microsoft.com/office/drawing/2014/main" id="{FE3C40E7-2AB7-46CC-E5CE-40736DE8B7FD}"/>
              </a:ext>
            </a:extLst>
          </p:cNvPr>
          <p:cNvSpPr/>
          <p:nvPr/>
        </p:nvSpPr>
        <p:spPr>
          <a:xfrm>
            <a:off x="8432800" y="5626100"/>
            <a:ext cx="3187700" cy="8255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Dashboard (Extensive)</a:t>
            </a:r>
          </a:p>
        </p:txBody>
      </p:sp>
    </p:spTree>
    <p:extLst>
      <p:ext uri="{BB962C8B-B14F-4D97-AF65-F5344CB8AC3E}">
        <p14:creationId xmlns:p14="http://schemas.microsoft.com/office/powerpoint/2010/main" val="3938308788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Custom 1">
      <a:dk1>
        <a:srgbClr val="000000"/>
      </a:dk1>
      <a:lt1>
        <a:srgbClr val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axy presentation_Win32_SL_V16" id="{36B34AD0-AFC2-468E-8620-6CFD159B149F}" vid="{ACCF8893-1A0E-437D-A612-1659D305EA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ABD9919-8F5A-4B99-83E1-E90FE1DCF2E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0E87F72-70BF-43BC-A0D4-53665DC1267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88E9556-96EB-43B4-8552-B18E859B65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GradientVTI</Template>
  <TotalTime>649</TotalTime>
  <Words>546</Words>
  <Application>Microsoft Macintosh PowerPoint</Application>
  <PresentationFormat>Widescreen</PresentationFormat>
  <Paragraphs>75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Univers</vt:lpstr>
      <vt:lpstr>GradientVTI</vt:lpstr>
      <vt:lpstr>2026 market planning</vt:lpstr>
      <vt:lpstr>Executive summary </vt:lpstr>
      <vt:lpstr>Return on ad spend (roas) by sector</vt:lpstr>
      <vt:lpstr>CONVERSTION RATE (cvr) BY SECTOR</vt:lpstr>
      <vt:lpstr>COST PER ACQUISITION (CPA) BY SECTOR</vt:lpstr>
      <vt:lpstr>SATISFACTION RATING VS ROAS</vt:lpstr>
      <vt:lpstr>Audience performance </vt:lpstr>
      <vt:lpstr>Budget utilization </vt:lpstr>
      <vt:lpstr>Period wise Campaign Numbers (All Sectors)</vt:lpstr>
      <vt:lpstr>Recommendations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Vishwas Tilwani</dc:creator>
  <cp:lastModifiedBy>Vishwas Tilwani</cp:lastModifiedBy>
  <cp:revision>10</cp:revision>
  <dcterms:created xsi:type="dcterms:W3CDTF">2025-11-13T12:50:45Z</dcterms:created>
  <dcterms:modified xsi:type="dcterms:W3CDTF">2025-11-17T22:00:05Z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